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5DF87-080A-48D8-AB8D-40D0BA33EF1C}" type="datetimeFigureOut"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276C8-955F-4DCA-B27E-914BC60C42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7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373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</a:rPr>
              <a:t>Laboratorio de Elementos Programables I · Sesión 04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8229600" y="6437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94A3B8"/>
                </a:solidFill>
              </a:rPr>
              <a:t>Show · Do · Challenge · Prove · Push</a:t>
            </a:r>
            <a:endParaRPr lang="en-US" sz="7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INTERRUPCIONES Y TEMPORIZADORES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</a:rPr>
              <a:t>Juego de reflejos · Medición de tiempo de reacción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0352" y="1527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Sesión 04 · Callbacks en MicroPython · ISR en C/C++ · Sin bloquear el microcontrolador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2344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MUNDO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FÍSICO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57400" y="3182112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2788920"/>
            <a:ext cx="1143000" cy="77724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IRQ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EVENTO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0520" y="3182112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29200" y="2788920"/>
            <a:ext cx="1143000" cy="777240"/>
          </a:xfrm>
          <a:prstGeom prst="rect">
            <a:avLst/>
          </a:prstGeom>
          <a:solidFill>
            <a:srgbClr val="1E1B4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CPU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ISR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3182112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0" y="2788920"/>
            <a:ext cx="1143000" cy="777240"/>
          </a:xfrm>
          <a:prstGeom prst="rect">
            <a:avLst/>
          </a:prstGeom>
          <a:solidFill>
            <a:srgbClr val="29252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TIMER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66760" y="3182112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35440" y="2788920"/>
            <a:ext cx="1920240" cy="77724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RESULTADO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REACTION TIME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24160" y="4434840"/>
            <a:ext cx="457200" cy="146304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2176" y="4562856"/>
            <a:ext cx="201168" cy="20116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52176" y="5038344"/>
            <a:ext cx="201168" cy="20116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52176" y="5513832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291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Prof. Luis Eduardo Arenas Deseano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Misión de hoy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331720" cy="50292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ENTENDER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33172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por qué polling bloquea y una interrupción reacciona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233172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PROGRAMAR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2057400"/>
            <a:ext cx="233172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callback en MicroPython y ISR en C/C++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2331720" cy="50292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MEDIR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057400"/>
            <a:ext cx="233172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tiempo de reacción en milisegundos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1417320"/>
            <a:ext cx="233172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VALIDAR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0" y="2057400"/>
            <a:ext cx="233172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primero en Wokwi y después en placa física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1014984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Pregunta guía: ¿cómo puede una Pico reaccionar a un evento sin quedarse esperando todo el tiempo?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De la sesión 03 a la sesión 04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2743200" cy="9144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SESIÓN 03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Polling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3200400" cy="118872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button.value() == 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crossing_sequence()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sleep_ms(20)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4069080"/>
            <a:ext cx="3200400" cy="54864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El programa pregunta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una y otra vez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2971800"/>
            <a:ext cx="9144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49240" y="1463040"/>
            <a:ext cx="2743200" cy="9144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SESIÓN 04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Interrupción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49240" y="2606040"/>
            <a:ext cx="3200400" cy="118872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callback(pin):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evento = True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button.irq(handler=callback)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069080"/>
            <a:ext cx="3200400" cy="54864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El hardware avisa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cuando ocurre algo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5166360"/>
            <a:ext cx="969264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Idea clave: pasar de “estar preguntando” a “reaccionar cuando sucede”.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Laboratorio virtual primero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920240" cy="50292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WOKWI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71800" y="1234440"/>
            <a:ext cx="219456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MicroPython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primer camino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7840" y="1234440"/>
            <a:ext cx="2194560" cy="50292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C/C++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segunda prueba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83880" y="1234440"/>
            <a:ext cx="219456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GitHub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evidencia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1481328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1481328"/>
            <a:ext cx="24688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63840" y="1481328"/>
            <a:ext cx="246888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4389120" cy="2377440"/>
          </a:xfrm>
          <a:prstGeom prst="rect">
            <a:avLst/>
          </a:prstGeom>
          <a:solidFill>
            <a:srgbClr val="0B1220"/>
          </a:solidFill>
          <a:ln w="12700">
            <a:solidFill>
              <a:srgbClr val="94A3B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Captura sugerida: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semáforo / botón en Wokwi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331720"/>
            <a:ext cx="210312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Circuito 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880360"/>
            <a:ext cx="43891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GP15 → LED señal visual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GP14 → LED estado/espera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GP16 → botón a GND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GND común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Pull-up interno en el código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5349240"/>
            <a:ext cx="969264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Primero simulamos para depurar lógica. Luego validamos en hardware real.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Circuito único para toda la práctica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417320" cy="68580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LED señal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GP15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417320" cy="68580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LED espera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GP14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417320" cy="6858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BOTÓN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GP16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Conexiones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1691640"/>
            <a:ext cx="4526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GP15 → resistencia 220/330 Ω → LED → GND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GP14 → resistencia 220/330 Ω → LED → GND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GP16 → botón → GND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• En código: Pin.PULL_UP / gpio_pull_up()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1143000"/>
            <a:ext cx="3017520" cy="2194560"/>
          </a:xfrm>
          <a:prstGeom prst="rect">
            <a:avLst/>
          </a:prstGeom>
          <a:solidFill>
            <a:srgbClr val="0B1220"/>
          </a:solidFill>
          <a:ln w="12700">
            <a:solidFill>
              <a:srgbClr val="94A3B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Aquí puedes poner imagen del circuito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Wokwi o diagrama pull-up interno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3886200"/>
            <a:ext cx="2743200" cy="10515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Con PULL_UP: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libre =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presionado = 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3886200"/>
            <a:ext cx="2743200" cy="10515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Evento usado: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IRQ_FALLING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1 → 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Polling vs interrupción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920240" cy="475488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POLLING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3566160" cy="141732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leer_boton()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leer_boton()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leer_boton()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Ventaja: simple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Problema: puede desperdiciar tiempo o bloquear la lógica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23560" y="1234440"/>
            <a:ext cx="2103120" cy="475488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INTERRUPCIÓN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23560" y="1874520"/>
            <a:ext cx="3886200" cy="141732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button.irq(handler=callback)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callback(pin):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marcar_evento()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50992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Ventaja: el hardware avisa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Regla: la ISR debe ser rápida y simple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941832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 es “mejor siempre”; es una herramienta para reaccionar a eventos externos.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El botón no manda “texto”: manda un cambio eléctrico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Pull-up interno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91840" cy="868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reposo:      1  HIGH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presionado:  0  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 interrupción se dispara por un borde: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2148840"/>
            <a:ext cx="118872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148840"/>
            <a:ext cx="0" cy="914400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3063240"/>
            <a:ext cx="1371600" cy="0"/>
          </a:xfrm>
          <a:prstGeom prst="line">
            <a:avLst/>
          </a:prstGeom>
          <a:noFill/>
          <a:ln w="38100">
            <a:solidFill>
              <a:srgbClr val="FB71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063240"/>
            <a:ext cx="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148840"/>
            <a:ext cx="128016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933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33375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FALLING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1→0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7728" y="33375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RISING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0→1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663440"/>
            <a:ext cx="832104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Para detectar “presionado” usaremos: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Pin.IRQ_FALLING / GPIO_IRQ_EDGE_FALL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Regla de oro de una ISR / callback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3891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NO hacer dentro de ISR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114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No imprimir mucho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No usar delays largos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No hacer lógica pesada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No modificar muchas cosas a la vez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438912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SÍ hacer dentro de ISR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4114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Guardar tiempo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Cambiar bandera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Confirmar evento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Salir rápido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0"/>
            <a:ext cx="969264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La ISR es como una alarma: despierta al sistema, pero no debe hacer todo el trabajo.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Temporizador: esperar sin congelar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657600" cy="9144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sleep_ms(3000)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programa queda detenido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65760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ESPERA BLOQUEANTE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8229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669280" y="1325880"/>
            <a:ext cx="4663440" cy="9144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timer.init(mode=Timer.ONE_SHOT,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period=3000,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callback=encender_led)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2423160"/>
            <a:ext cx="466344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EVENTO PROGRAMADO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754880"/>
            <a:ext cx="996696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Para el juego de reflejos: no queremos bloquear; queremos esperar una señal visual y reaccionar.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Diccionario MicroPython para la práctica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Pin(16, Pin.IN, Pin.PULL_UP)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4920" y="1188720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Entrada con referencia interna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button.irq(...)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1847088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Activa callback por interrupción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Pin.IRQ_FALLING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2505456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Detecta 1 →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Timer.ONE_SHOT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163824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Temporizador de una sola vez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ticks_ms()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3822192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Tiempo actual en 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402336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ticks_diff(a,b)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480560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Diferencia segura de tiempos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SHOW 01 · Botón con interrupción en MicroPython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669280" cy="43434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machine import Pin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ticks_ms, ticks_diff, sleep_ms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= Pin(16, Pin.IN, Pin.PULL_UP)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ultimo = 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boton_irq(pin):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contador, ultimo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ahora = ticks_ms()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ticks_diff(ahora, ultimo) &gt; 80: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contador +=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ultimo = ahora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button.irq(trigger=Pin.IRQ_FALLING, handler=boton_irq)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75120" y="1234440"/>
            <a:ext cx="356616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Qué observar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20840" y="1874520"/>
            <a:ext cx="3977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1. Cada clic incrementa el contador.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2. El programa principal no pregunta todo el tiempo.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3. El debounce evita múltiples lecturas falsas.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75120" y="3840480"/>
            <a:ext cx="3840480" cy="9144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print("clics:", contador)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sleep_ms(500)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DO 01 · Prueba virtual del botón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920240" cy="45720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Tiempo: 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En Wokwi: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02920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1. Abrir proyecto MicroPython.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2. Verificar GP16 → botón → GND.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3. Ejecutar button_irq_counter.py.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4. Presionar 5 veces.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5. Capturar consola serial.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6. Explicar por qué el valor de reposo es 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420624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Resultado mínimo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206240" cy="1051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clics: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clics: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clics: 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clics: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5029200"/>
            <a:ext cx="969264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Primera victoria: el hardware ya puede interrumpir el flujo del programa.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SHOW 02 · Temporizador de señal visual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760720" cy="438912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machine import Pin, Timer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 import sleep_ms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= Pin(15, Pin.OUT)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= Timer(-1)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encender(t):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signal.on()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signal.off()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print('Espera 3 segundos...')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timer.init(mode=Timer.ONE_SHOT, period=3000, callback=encender)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print('programa vivo')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sleep_ms(500)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766560" y="1325880"/>
            <a:ext cx="3840480" cy="475488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Qué demuestra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1228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El LED se enciende después de 3 s, pero el programa principal sigue vivo.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Eso es diferente a dormir todo el programa con sleep.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0" y="3977640"/>
            <a:ext cx="3840480" cy="1097280"/>
          </a:xfrm>
          <a:prstGeom prst="rect">
            <a:avLst/>
          </a:prstGeom>
          <a:solidFill>
            <a:srgbClr val="0B1220"/>
          </a:solidFill>
          <a:ln w="12700">
            <a:solidFill>
              <a:srgbClr val="94A3B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Captura Wokwi sugerida: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LED encendido por Timer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Juego de reflejos: estados del sistema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331720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ESPERA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LED apagado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No presionar todavía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51460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74720" y="1325880"/>
            <a:ext cx="64008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2331720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SEÑAL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LED encendido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Empieza medición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7880" y="251460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1325880"/>
            <a:ext cx="64008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965960"/>
            <a:ext cx="2331720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RESPUESTA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Botón presionado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Calcular 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0" y="251460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52560" y="1325880"/>
            <a:ext cx="6400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1965960"/>
            <a:ext cx="2331720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RESULTADO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Mostrar tiempo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Nueva ronda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1019556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La interrupción captura el evento. El temporizador decide cuándo aparece la señal visual.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MicroPython · estructura del juego completo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6080760" cy="4297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ISR: no imprime, solo registra evento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button_irq(pin):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 == READY: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reaction_ms = ticks_diff(now, start_ms)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result_ready = 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Timer: activa la señal visual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show_signal(timer):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signal.on()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start_ms = ticks_ms()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READY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loop: imprime, reinicia y documenta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result_ready: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print(reaction_ms, 'ms')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schedule_round()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78040" y="1417320"/>
            <a:ext cx="347472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Separación de responsabilidades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ISR → captura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Timer → genera señal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Main loop → imprime y reinicia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Este diseño evita bloquear y evita hacer demasiado dentro de la ISR.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Plan de prueba · MicroPython en Wokwi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2926080" cy="41148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Prueba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86200" y="1188720"/>
            <a:ext cx="5943600" cy="41148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Resultado esperado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9260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Arranque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1737360"/>
            <a:ext cx="594360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LED espera encendido, señal apagada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29260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Presionar antes de señal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2340864"/>
            <a:ext cx="594360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Salida falsa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29260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Esperar señal y presionar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2944368"/>
            <a:ext cx="594360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Tiempo en 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547872"/>
            <a:ext cx="29260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Mantener botón presionado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547872"/>
            <a:ext cx="594360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No repetir inmediatamente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51376"/>
            <a:ext cx="292608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Reiniciar ronda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4151376"/>
            <a:ext cx="594360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Nuevo tiempo aleatorio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932688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 basta con que “prenda”: debe comportarse correctamente ante errores del usuario.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Diccionario C/C++ para la prueba equivalente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gpio_pull_up(BUTTON)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94960" y="1188720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Entrada con pull-up interno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gpio_set_irq_enabled_with_callback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94960" y="1847088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Activa interrupción GPIO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GPIO_IRQ_EDGE_FALL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94960" y="2505456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Detecta 1 →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add_alarm_in_ms(...)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0" y="3163824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Temporizador de una sola vez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to_ms_since_boot(...)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94960" y="3822192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Tiempo actual en 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4343400" cy="438912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4480560"/>
            <a:ext cx="530352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Variable compartida con ISR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SHOW 03 · ISR en C/C++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943600" cy="420624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bool pressed =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uint32_t last_ms = 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gpio_callback(uint gpio, uint32_t events)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now = to_ms_since_boot(get_absolute_time());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(now - last_ms &gt; 80)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pressed = true;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last_ms = now;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gpio_set_irq_enabled_with_callback(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BUTTON, GPIO_IRQ_EDGE_FALL, true, &amp;gpio_callback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995160" y="1325880"/>
            <a:ext cx="3611880" cy="45720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Misma idea que Python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0" y="1993392"/>
            <a:ext cx="34290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MicroPython: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button.irq(handler=...)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C/C++: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gpio_set_irq_enabled_with_callback(...)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La sintaxis cambia. El evento eléctrico es el mismo.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C/C++ · juego de reflejos equivalente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210312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ISR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1031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Guarda reacción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o salida falsa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24028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94760" y="1234440"/>
            <a:ext cx="210312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ALARM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94760" y="1874520"/>
            <a:ext cx="21031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Enciende LED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y marca inicio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24028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0" y="1234440"/>
            <a:ext cx="2560320" cy="457200"/>
          </a:xfrm>
          <a:prstGeom prst="rect">
            <a:avLst/>
          </a:prstGeom>
          <a:solidFill>
            <a:srgbClr val="451A0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MAIN LOOP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874520"/>
            <a:ext cx="25603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Imprime resultado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y agenda ronda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9784080" cy="123444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active_alarm = add_alarm_in_ms(delay_ms, show_signal, NULL, false);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(result_ready)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printf("Reaccion: %lu ms\n", reaction_ms);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schedule_round();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Plan de prueba · C/C++ en Wokwi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Usa el mismo circuito virtual. Cambia solamente el proyecto/código.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1148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8470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Crear proyecto Pico SDK o abrir plantilla Wokwi C++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1148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4140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Pegar main.c y CMakeLists.txt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62656"/>
            <a:ext cx="41148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980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Verificar USB serial / consola Wokwi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529584"/>
            <a:ext cx="41148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547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Ejecutar mismas pruebas de MicroPython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41148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4114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Comparar si el algoritmo se comporta igual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5120640"/>
            <a:ext cx="996696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Objetivo: demostrar que el concepto no depende del lenguaje, sino del evento y del temporizador.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Qué sí y qué no podemos afirmar desde Wokwi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438912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Sí podemos validar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4023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Lógica de estados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Secuencia del juego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Eventos de botón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Consola serial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Errores de programación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43891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No debemos afirmar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4023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Tiempo exacto del humano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Latencia real de hardware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Rebote físico verdadero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Consumo de energía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• Rendimiento RP2350 completo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4846320"/>
            <a:ext cx="9418320" cy="530352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La simulación valida la lógica; el hardware valida la implementación.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Archivos que acompañan la presentación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5166360" cy="41148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Sesion_04_Interrupciones_Temporizadores/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PLAN_DOCENTE.md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wokwi_micropython/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diagram.json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button_irq_counter.py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timer_signal.py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reaction_game.py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wokwi_cpp/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diagram.json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CMakeLists.txt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wokwi.toml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main.c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92240" y="1417320"/>
            <a:ext cx="347472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Uso recomendado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0" y="2057400"/>
            <a:ext cx="41148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1. Probar primero button_irq_counter.py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2. Probar timer_signal.py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3. Ejecutar reaction_game.py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4. Repetir el concepto en C/C++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5. Subir evidencia a 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CHALLENGE 04 · Juego de reflejos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Nivel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971800" cy="1234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Funcional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El LED aparece y el botón mide reacción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280160"/>
            <a:ext cx="10972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Nivel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74520"/>
            <a:ext cx="2971800" cy="1234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Robusto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Detecta salida falsa y evita repetir por botón sostenido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1280160"/>
            <a:ext cx="10972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Nivel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1874520"/>
            <a:ext cx="2971800" cy="12344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Ingeniería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Tabla de 5 intentos, promedio y mejor tiempo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892040"/>
            <a:ext cx="10241280" cy="54864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Producto: simulación funcional + captura de consola + explicación de interrupción y temporizador.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Evidencia: no solo “funcionó”, también medimos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28016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Intento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31720" y="1234440"/>
            <a:ext cx="182880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Tiempo 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234440"/>
            <a:ext cx="5029200" cy="45720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Observación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28016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828800"/>
            <a:ext cx="18288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50292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________________________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28016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331720"/>
            <a:ext cx="18288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50292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________________________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128016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834640"/>
            <a:ext cx="18288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2834640"/>
            <a:ext cx="50292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________________________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128016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337560"/>
            <a:ext cx="18288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337560"/>
            <a:ext cx="50292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________________________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28016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840480"/>
            <a:ext cx="18288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840480"/>
            <a:ext cx="5029200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________________________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663440"/>
            <a:ext cx="1828800" cy="438912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Calcular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71800" y="4736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mejor tiempo · peor tiempo · promedio · salidas falsas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PUSH · Evidencia en GitHub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120640" cy="457200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Sesion_04_Interrupciones_Temporizadores/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micropython/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button_irq_counter.py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timer_signal.py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reaction_game.py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cpp/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CMakeLists.txt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wokwi/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diagram.json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screenshots/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evidence/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serial_python.png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serial_cpp.png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4023360" cy="457200"/>
          </a:xfrm>
          <a:prstGeom prst="rect">
            <a:avLst/>
          </a:prstGeom>
          <a:solidFill>
            <a:srgbClr val="1E1B4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README mínimo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2011680"/>
            <a:ext cx="38404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1. Objetivo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2. Circuito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3. Qué es una interrupción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4. Qué es un temporizador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5. Resultados en 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6. Problemas encontrados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7. Conclusión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Rúbrica rápida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7680960" cy="41148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Criterio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0" y="1143000"/>
            <a:ext cx="914400" cy="411480"/>
          </a:xfrm>
          <a:prstGeom prst="rect">
            <a:avLst/>
          </a:prstGeom>
          <a:solidFill>
            <a:srgbClr val="082F49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Circuito virtual correcto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0" y="169164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MicroPython: IRQ + Timer funcional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219456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2.0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C/C++: prueba equivalente funcional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269748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2.0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Juego de reflejos y medición en 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320040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2.0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Pruebas y tabla de resultados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70332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1.0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README y explicación técnica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420624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1.2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768096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Orden en GitHub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4709160"/>
            <a:ext cx="914400" cy="320040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</a:rPr>
              <a:t>0.8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5440680"/>
            <a:ext cx="1645920" cy="41148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TOTAL 10 pts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Fallos típicos al simular y probar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38404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No cambia al presionar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92040" y="1188720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Revisar GP16, GND y PULL_UP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8404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Se dispara muchas veces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1901952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Subir debounce a 80–120 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8404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Siempre dice salida falsa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2615184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Verificar que botón conecta a GND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28416"/>
            <a:ext cx="38404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No imprime en C/C++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3328416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Activar stdio USB / consola Wokwi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38404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El timer no reinicia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4041648"/>
            <a:ext cx="54406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</a:rPr>
              <a:t>Revisar schedule_round() y Timer.deinit()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5257800"/>
            <a:ext cx="950976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Si algo falla, primero prueba el botón solo; después el timer solo; al final integra.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</a:rPr>
              <a:t>SESIÓN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</a:rPr>
              <a:t>Exit ticket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Antes de cerrar, cada equipo debe poder responder: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1148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8105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¿Qué diferencia hay entre polling e interrupción?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1148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¿Qué significa IRQ_FALLING con pull-up?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1148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3090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¿Por qué una ISR debe ser rápida?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41148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3730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¿Para qué usamos el temporizador en el juego?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1148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4370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¿Cómo medimos el tiempo de reacción?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486400"/>
            <a:ext cx="969264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Siguiente sesión: de eventos simples a temporización más precisa y depuración del comportamiento.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92840" y="62910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25E932FF64E7429E73246617976312" ma:contentTypeVersion="3" ma:contentTypeDescription="Crear nuevo documento." ma:contentTypeScope="" ma:versionID="79cb4e54d60ce2abb51c0bb9628c201a">
  <xsd:schema xmlns:xsd="http://www.w3.org/2001/XMLSchema" xmlns:xs="http://www.w3.org/2001/XMLSchema" xmlns:p="http://schemas.microsoft.com/office/2006/metadata/properties" xmlns:ns2="00541909-b216-436a-98af-13c721621bc7" targetNamespace="http://schemas.microsoft.com/office/2006/metadata/properties" ma:root="true" ma:fieldsID="21c57c314aaace9ac1549ac72e56e794" ns2:_="">
    <xsd:import namespace="00541909-b216-436a-98af-13c721621b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41909-b216-436a-98af-13c721621b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FDA05F-8FC4-4F0C-A3D5-DAE85C3B4B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FD84EC-8D71-4379-9D1D-B70BA31E8C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3569716-1561-418E-8917-933C6D4251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541909-b216-436a-98af-13c721621b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Laboratorio de Elementos Programables 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04 - Interrupciones y temporizadores</dc:title>
  <dc:subject>Sesión 04 - Interrupciones y temporizadores</dc:subject>
  <dc:creator>Luis Eduardo Arenas Deseano</dc:creator>
  <cp:lastModifiedBy>Luis Eduardo Arenas Deseano</cp:lastModifiedBy>
  <cp:revision>4</cp:revision>
  <dcterms:created xsi:type="dcterms:W3CDTF">2026-09-10T21:54:57Z</dcterms:created>
  <dcterms:modified xsi:type="dcterms:W3CDTF">2026-09-11T23:39:19Z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0x0101002325E932FF64E7429E73246617976312</vt:lpwstr>
  </property>
</Properties>
</file>